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188720"/>
            <a:ext cx="393192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OPERATIONS RESEARCH &amp; SUPPLY CHAIN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916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BasketShield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4155"/>
                </a:solidFill>
                <a:latin typeface="Segoe UI"/>
              </a:defRPr>
            </a:pPr>
            <a:r>
              <a:t>Prescriptive Unit Economics Defense Against Geopolitical Maritime Chokepoints and the 2026 AI Memory Crunch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383280"/>
            <a:ext cx="30632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4752" y="35204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6,000 Multi-Sector SKUs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FMCG Staples, High-Tech Electronics &amp; Tesla EV Skateboards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383280"/>
            <a:ext cx="30632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35204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Google OR-Tools MILP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Sub-15ms deterministic optimization with Big-M binary supplier gating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383280"/>
            <a:ext cx="30632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2" y="35204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Up to 85% Price Defense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Prevents supermarket checkout inflation and device MSRP surges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98348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Team Lazy  •  Shrey Jaiswal  &amp;  Navya Gupta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Open-Source Repository: github.com/lazyshrey/basketshield  •  Peer-Audited Research Paper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01. MACRO CRISIS &amp; EMPIRICAL SHOCKS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Compounding Disruption: Maritime Chokepoints &amp; The AI Memory Supercycle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Global supply shocks strike through physical component dependencies, inflating manufacturing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1071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3044952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+310% to +440% Freight Spike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4495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Bab el-Mandeb &amp; Red Sea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Attacks in the Red Sea force container detours around the Cape of Good Hope, adding 10–14 days and 3,500 nautical miles for Europe-Asia lanes. Drewry World Container Index peaked above $5,900/FEU. Perishable food shipments (coffee, olive oil) face port demurrage and container deterioration.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1071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3044952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+24% to +35% Raw Metal Inflation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04495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Smelting Energy Surcharges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Natural gas and electricity volatility in Europe and the Middle East forced severe curtailments across energy-intensive primary aluminum smelters and glass annealing kilns. Raw packaging represents up to 45% of total grocery unit costs, creating an immediate margin squeeze.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41071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965960"/>
            <a:ext cx="3044952" cy="59436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DB2777"/>
                </a:solidFill>
                <a:latin typeface="Segoe UI"/>
              </a:defRPr>
            </a:pPr>
            <a:r>
              <a:t>+58% to +72% DRAM Wafer Inflation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97480"/>
            <a:ext cx="304495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2026 AI Memory Crunch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Hyperscalers consuming 80%+ of 1b-nm DRAM wafer allocation for HBM3e/HBM4 AI server clusters. High-bandwidth 3D TSV stacking introduces a ~3x wafer area penalty, starving wafer capacity for consumer LPDDR5X and DDR5. Silicon memory accounts for 18%–32% of electronic BOMs.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02. THE ENTERPRISE BLINDSPOT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Why Spreadsheets &amp; Traditional ERPs Drive Consumer Price Inflation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Legacy enterprise software is purely transactional, leaving manufacturers blind to compounding physical shocks.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6177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How Legacy Enterprise Tools Fail Under Acute Shocks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2563EB"/>
                </a:solidFill>
                <a:latin typeface="Segoe UI"/>
              </a:rPr>
              <a:t>Static Moving Averages: </a:t>
            </a:r>
            <a:r>
              <a:rPr sz="950">
                <a:solidFill>
                  <a:srgbClr val="475569"/>
                </a:solidFill>
                <a:latin typeface="Segoe UI"/>
              </a:rPr>
              <a:t>Standard ERP platforms (SAP, Oracle) compute standard costs using historical moving averages. They cannot evaluate non-linear step-function tariff changes or sudden canal surcharges.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2563EB"/>
                </a:solidFill>
                <a:latin typeface="Segoe UI"/>
              </a:rPr>
              <a:t>Single-Node Visibility: </a:t>
            </a:r>
            <a:r>
              <a:rPr sz="950">
                <a:solidFill>
                  <a:srgbClr val="475569"/>
                </a:solidFill>
                <a:latin typeface="Segoe UI"/>
              </a:rPr>
              <a:t>Procurement systems track Tier-1 packaging and component vendors, entirely missing Tier-2/3 dependencies (e.g. SK Hynix DRAM lithography, European gas-fired glass kilns).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2563EB"/>
                </a:solidFill>
                <a:latin typeface="Segoe UI"/>
              </a:rPr>
              <a:t>Manual Multi-Week Negotiations: </a:t>
            </a:r>
            <a:r>
              <a:rPr sz="950">
                <a:solidFill>
                  <a:srgbClr val="475569"/>
                </a:solidFill>
                <a:latin typeface="Segoe UI"/>
              </a:rPr>
              <a:t>Procurement teams take 3 to 6 weeks to solicit alternative supplier quotes. By then, unhedged price surges are already locked into production orders.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2563EB"/>
                </a:solidFill>
                <a:latin typeface="Segoe UI"/>
              </a:rPr>
              <a:t>No Circular Optimization: </a:t>
            </a:r>
            <a:r>
              <a:rPr sz="950">
                <a:solidFill>
                  <a:srgbClr val="475569"/>
                </a:solidFill>
                <a:latin typeface="Segoe UI"/>
              </a:rPr>
              <a:t>Legacy systems cannot balance secondary recycled scrap mandates against maritime lead times, defaulting to expensive single-source suppliers.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6177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B2777"/>
                </a:solidFill>
                <a:latin typeface="Segoe UI"/>
              </a:defRPr>
            </a:pPr>
            <a:r>
              <a:t>The Human Consequence: Inflation at the Checkout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DB2777"/>
                </a:solidFill>
                <a:latin typeface="Segoe UI"/>
              </a:rPr>
              <a:t>Zero Margin Buffer: </a:t>
            </a:r>
            <a:r>
              <a:rPr sz="950">
                <a:solidFill>
                  <a:srgbClr val="475569"/>
                </a:solidFill>
                <a:latin typeface="Segoe UI"/>
              </a:rPr>
              <a:t>Food and beverage brands operate on net margins between 35%–42%. They physically cannot absorb 40%+ packaging landed cost surges without going into the red.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DB2777"/>
                </a:solidFill>
                <a:latin typeface="Segoe UI"/>
              </a:rPr>
              <a:t>The Immediate Pass-Through: </a:t>
            </a:r>
            <a:r>
              <a:rPr sz="950">
                <a:solidFill>
                  <a:srgbClr val="475569"/>
                </a:solidFill>
                <a:latin typeface="Segoe UI"/>
              </a:rPr>
              <a:t>Manufacturers pass 100% of unmitigated packaging and memory surges down through distributors and supermarkets. Consumers face higher prices for instant coffee, oils, and electronics.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DB2777"/>
                </a:solidFill>
                <a:latin typeface="Segoe UI"/>
              </a:rPr>
              <a:t>Shrinkflation Dynamics: </a:t>
            </a:r>
            <a:r>
              <a:rPr sz="950">
                <a:solidFill>
                  <a:srgbClr val="475569"/>
                </a:solidFill>
                <a:latin typeface="Segoe UI"/>
              </a:rPr>
              <a:t>When brands hit consumer price resistance ceilings, they reduce product volume while maintaining package pricing—a direct consequence of packaging un-resilience.</a:t>
            </a:r>
          </a:p>
          <a:p>
            <a:pPr>
              <a:spcBef>
                <a:spcPts val="1000"/>
              </a:spcBef>
            </a:pPr>
            <a:r>
              <a:rPr sz="950" b="1">
                <a:solidFill>
                  <a:srgbClr val="DB2777"/>
                </a:solidFill>
                <a:latin typeface="Segoe UI"/>
              </a:rPr>
              <a:t>The BasketShield Solution: </a:t>
            </a:r>
            <a:r>
              <a:rPr sz="950">
                <a:solidFill>
                  <a:srgbClr val="475569"/>
                </a:solidFill>
                <a:latin typeface="Segoe UI"/>
              </a:rPr>
              <a:t>Replace reactive price increases with sub-15ms deterministic mathematical solver reallocation, nearshoring, and circular recycling arbitrage.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03.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BasketShield AI Decision Intelligence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An integrated pipeline connecting granular physical Bill-of-Materials with deterministic Operations Research.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1071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3044952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6,000 VERIFIED SKUS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044952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Multi-Sector Catalog</a:t>
            </a:r>
          </a:p>
          <a:p>
            <a:pPr>
              <a:spcBef>
                <a:spcPts val="600"/>
              </a:spcBef>
              <a:defRPr sz="919">
                <a:solidFill>
                  <a:srgbClr val="475569"/>
                </a:solidFill>
                <a:latin typeface="Segoe UI"/>
              </a:defRPr>
            </a:pPr>
            <a:r>
              <a:t>Grounded real-world catalog across three critical sectors:</a:t>
            </a:r>
            <a:br/>
            <a:br/>
            <a:r>
              <a:t>• FMCG Consumer Groceries: 2,000 SKUs (coffee jars, oils, aluminum cans)</a:t>
            </a:r>
            <a:br/>
            <a:r>
              <a:t>• Consumer Electronics: 2,000 SKUs (smartphones, enterprise GPUs, laptops with exact LPDDR5X/HBM3e specs)</a:t>
            </a:r>
            <a:br/>
            <a:r>
              <a:t>• Automotive &amp; Tesla EVs: 2,000 SKUs (Model 3 chassis, Cybertruck 4680 packs)</a:t>
            </a:r>
            <a:br/>
            <a:br/>
            <a:r>
              <a:t>Stores exact physical masses, tare specs, and lithography origins.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1071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3044952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GEMINI AI &amp; METALLURGY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3044952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Physical BOM Engine</a:t>
            </a:r>
          </a:p>
          <a:p>
            <a:pPr>
              <a:spcBef>
                <a:spcPts val="600"/>
              </a:spcBef>
              <a:defRPr sz="919">
                <a:solidFill>
                  <a:srgbClr val="475569"/>
                </a:solidFill>
                <a:latin typeface="Segoe UI"/>
              </a:defRPr>
            </a:pPr>
            <a:r>
              <a:t>Deconstructs any commercial SKU into physical components:</a:t>
            </a:r>
            <a:br/>
            <a:br/>
            <a:r>
              <a:t>• Primary Container Material (Soda-Lime Flint Glass, AA 3104 Canstock, Grade 5 Titanium)</a:t>
            </a:r>
            <a:br/>
            <a:r>
              <a:t>• Component Masses in grams (Jar 214g, Closure 14.5g, Seal 0.8g)</a:t>
            </a:r>
            <a:br/>
            <a:r>
              <a:t>• Foundry &amp; Fab Dependencies (TSMC 3nm, SK Hynix Icheon, Samsung Pyeongtaek)</a:t>
            </a:r>
            <a:br/>
            <a:r>
              <a:t>• Macro Shock Transmissibility: Dynamic tariff, demurrage, and spot freight index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41071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965960"/>
            <a:ext cx="3044952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SUB-15MS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14600"/>
            <a:ext cx="3044952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3. Google OR-Tools MILP</a:t>
            </a:r>
          </a:p>
          <a:p>
            <a:pPr>
              <a:spcBef>
                <a:spcPts val="600"/>
              </a:spcBef>
              <a:defRPr sz="919">
                <a:solidFill>
                  <a:srgbClr val="475569"/>
                </a:solidFill>
                <a:latin typeface="Segoe UI"/>
              </a:defRPr>
            </a:pPr>
            <a:r>
              <a:t>Mixed-Integer Linear Programming engine solving multi-vendor allocation:</a:t>
            </a:r>
            <a:br/>
            <a:br/>
            <a:r>
              <a:t>• Strict Demand Conservation: Guarantees zero unfulfilled orders</a:t>
            </a:r>
            <a:br/>
            <a:r>
              <a:t>• Big-M Semi-Continuous Gating: Enforces vendor activation thresholds and MOQs</a:t>
            </a:r>
            <a:br/>
            <a:r>
              <a:t>• Recycled Fleet Mandate: Guarantees circular scrap compliance</a:t>
            </a:r>
            <a:br/>
            <a:r>
              <a:t>• Nearshoring Breakeven: Identifies the exact mathematical distance where domestic sourcing beats tariffs.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52160"/>
            <a:ext cx="10725912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DATA FLOW: Macro Shock Scenarios → Physical BOM Parameterization → SCIP MILP Solver → Optimal Supplier Allocation &amp; Defended Shelf Price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04. PLATFORM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Resilience Cockpit: Interactive Chokepoint &amp; Shock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 dark monochrome decision cockpit built with Streamlit and styled with strict shadcn/ui design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297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3840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Operational Cockpit Features</a:t>
            </a:r>
          </a:p>
          <a:p>
            <a:pPr>
              <a:spcBef>
                <a:spcPts val="800"/>
              </a:spcBef>
            </a:pPr>
            <a:r>
              <a:rPr sz="919" b="1">
                <a:solidFill>
                  <a:srgbClr val="2563EB"/>
                </a:solidFill>
                <a:latin typeface="Segoe UI"/>
              </a:rPr>
              <a:t>Multi-Sector Workspace Switching: </a:t>
            </a:r>
            <a:r>
              <a:rPr sz="919">
                <a:solidFill>
                  <a:srgbClr val="475569"/>
                </a:solidFill>
                <a:latin typeface="Segoe UI"/>
              </a:rPr>
              <a:t>Easily toggle between FMCG Groceries, Consumer Electronics &amp; Computing, and Tesla Electric Vehicles with real-time SKU search across 6,000 catalog items.</a:t>
            </a:r>
          </a:p>
          <a:p>
            <a:pPr>
              <a:spcBef>
                <a:spcPts val="800"/>
              </a:spcBef>
            </a:pPr>
            <a:r>
              <a:rPr sz="919" b="1">
                <a:solidFill>
                  <a:srgbClr val="2563EB"/>
                </a:solidFill>
                <a:latin typeface="Segoe UI"/>
              </a:rPr>
              <a:t>Acute Shock Studio: </a:t>
            </a:r>
            <a:r>
              <a:rPr sz="919">
                <a:solidFill>
                  <a:srgbClr val="475569"/>
                </a:solidFill>
                <a:latin typeface="Segoe UI"/>
              </a:rPr>
              <a:t>Simulate verified geopolitical crises in real time: 2026 Middle East maritime closures (Bab el-Mandeb / Strait of Hormuz), Taiwan Strait container congestion, and smelter gas tariffs.</a:t>
            </a:r>
          </a:p>
          <a:p>
            <a:pPr>
              <a:spcBef>
                <a:spcPts val="800"/>
              </a:spcBef>
            </a:pPr>
            <a:r>
              <a:rPr sz="919" b="1">
                <a:solidFill>
                  <a:srgbClr val="2563EB"/>
                </a:solidFill>
                <a:latin typeface="Segoe UI"/>
              </a:rPr>
              <a:t>Dynamic Archetype Tagging: </a:t>
            </a:r>
            <a:r>
              <a:rPr sz="919">
                <a:solidFill>
                  <a:srgbClr val="475569"/>
                </a:solidFill>
                <a:latin typeface="Segoe UI"/>
              </a:rPr>
              <a:t>Classifies products by container form factor (e.g. Glass Jar, Aluminum Can, Smartphone Unibody, 4680 Pack) and binds them directly to global commodity spot indices.</a:t>
            </a:r>
          </a:p>
          <a:p>
            <a:pPr>
              <a:spcBef>
                <a:spcPts val="800"/>
              </a:spcBef>
            </a:pPr>
            <a:r>
              <a:rPr sz="919" b="1">
                <a:solidFill>
                  <a:srgbClr val="2563EB"/>
                </a:solidFill>
                <a:latin typeface="Segoe UI"/>
              </a:rPr>
              <a:t>Real-Time Vulnerability Flags: </a:t>
            </a:r>
            <a:r>
              <a:rPr sz="919">
                <a:solidFill>
                  <a:srgbClr val="475569"/>
                </a:solidFill>
                <a:latin typeface="Segoe UI"/>
              </a:rPr>
              <a:t>Immediately surfaces primary chokepoints, such as '+14-day Cape detour' and '🧠 HBM3e / DRAM Wafer Crunch (+58%)'.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783080"/>
            <a:ext cx="624535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resilience_cockpi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74519"/>
            <a:ext cx="6062472" cy="27352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05. EMPIRICAL PROOF &amp;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Physical BOM Mass Decomposition &amp; Landed Cost Preservation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Proving measurable consumer price defense on real-world products like Davidoff Espresso 57 Instant Glass Jar.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624535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physical_bom_cost_def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6062472" cy="27411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59752" y="1783080"/>
            <a:ext cx="4297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965960"/>
            <a:ext cx="3886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Empirical Value Preservation</a:t>
            </a:r>
          </a:p>
          <a:p>
            <a:pPr>
              <a:spcBef>
                <a:spcPts val="800"/>
              </a:spcBef>
            </a:pPr>
            <a:r>
              <a:rPr sz="919" b="1">
                <a:solidFill>
                  <a:srgbClr val="334155"/>
                </a:solidFill>
                <a:latin typeface="Segoe UI"/>
              </a:rPr>
              <a:t>Pre-Crisis Baseline: </a:t>
            </a:r>
            <a:r>
              <a:rPr sz="1050" b="1">
                <a:solidFill>
                  <a:srgbClr val="0F172A"/>
                </a:solidFill>
                <a:latin typeface="Segoe UI"/>
              </a:rPr>
              <a:t>$0.50 / unit
</a:t>
            </a:r>
            <a:r>
              <a:rPr sz="850">
                <a:solidFill>
                  <a:srgbClr val="64748B"/>
                </a:solidFill>
                <a:latin typeface="Segoe UI"/>
              </a:rPr>
              <a:t>Standard procurement before the maritime and energy shock.</a:t>
            </a:r>
          </a:p>
          <a:p>
            <a:pPr>
              <a:spcBef>
                <a:spcPts val="800"/>
              </a:spcBef>
            </a:pPr>
            <a:r>
              <a:rPr sz="919" b="1">
                <a:solidFill>
                  <a:srgbClr val="334155"/>
                </a:solidFill>
                <a:latin typeface="Segoe UI"/>
              </a:rPr>
              <a:t>Unmitigated Shock Cost: </a:t>
            </a:r>
            <a:r>
              <a:rPr sz="1050" b="1">
                <a:solidFill>
                  <a:srgbClr val="DB2777"/>
                </a:solidFill>
                <a:latin typeface="Segoe UI"/>
              </a:rPr>
              <a:t>$1.03 / unit
</a:t>
            </a:r>
            <a:r>
              <a:rPr sz="850">
                <a:solidFill>
                  <a:srgbClr val="64748B"/>
                </a:solidFill>
                <a:latin typeface="Segoe UI"/>
              </a:rPr>
              <a:t>+105.3% unhedged price surge driven by overseas freight delays and energy tariffs.</a:t>
            </a:r>
          </a:p>
          <a:p>
            <a:pPr>
              <a:spcBef>
                <a:spcPts val="800"/>
              </a:spcBef>
            </a:pPr>
            <a:r>
              <a:rPr sz="919" b="1">
                <a:solidFill>
                  <a:srgbClr val="334155"/>
                </a:solidFill>
                <a:latin typeface="Segoe UI"/>
              </a:rPr>
              <a:t>BasketShield Defended Cost: </a:t>
            </a:r>
            <a:r>
              <a:rPr sz="1050" b="1">
                <a:solidFill>
                  <a:srgbClr val="059669"/>
                </a:solidFill>
                <a:latin typeface="Segoe UI"/>
              </a:rPr>
              <a:t>$0.10 / unit
</a:t>
            </a:r>
            <a:r>
              <a:rPr sz="850">
                <a:solidFill>
                  <a:srgbClr val="64748B"/>
                </a:solidFill>
                <a:latin typeface="Segoe UI"/>
              </a:rPr>
              <a:t>-79.8% cost reduction achieved by reallocating to domestic certified nearshore converters.</a:t>
            </a:r>
          </a:p>
          <a:p>
            <a:pPr>
              <a:spcBef>
                <a:spcPts val="800"/>
              </a:spcBef>
            </a:pPr>
            <a:r>
              <a:rPr sz="919" b="1">
                <a:solidFill>
                  <a:srgbClr val="334155"/>
                </a:solidFill>
                <a:latin typeface="Segoe UI"/>
              </a:rPr>
              <a:t>Defended Retail Shelf MSRP: </a:t>
            </a:r>
            <a:r>
              <a:rPr sz="1050" b="1">
                <a:solidFill>
                  <a:srgbClr val="059669"/>
                </a:solidFill>
                <a:latin typeface="Segoe UI"/>
              </a:rPr>
              <a:t>$9.40 / unit
</a:t>
            </a:r>
            <a:r>
              <a:rPr sz="850">
                <a:solidFill>
                  <a:srgbClr val="64748B"/>
                </a:solidFill>
                <a:latin typeface="Segoe UI"/>
              </a:rPr>
              <a:t>-$0.97 inflationary consumer price spike absorbed, preventing supermarket basket price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06. MATHEMATICAL FORMULATION &amp; EXECUTIVE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Mixed-Integer Programming (MILP) &amp; Plain-English Executive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Translating deterministic linear algebra proofs into actionable intelligence for non-technical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091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Mathematical Optimization Formulation (Google OR-Tools)</a:t>
            </a:r>
          </a:p>
          <a:p>
            <a:pPr>
              <a:spcBef>
                <a:spcPts val="600"/>
              </a:spcBef>
            </a:pPr>
            <a:r>
              <a:rPr sz="919" b="1">
                <a:solidFill>
                  <a:srgbClr val="2563EB"/>
                </a:solidFill>
                <a:latin typeface="Segoe UI"/>
              </a:rPr>
              <a:t>Objective Function: </a:t>
            </a:r>
            <a:r>
              <a:rPr sz="850">
                <a:solidFill>
                  <a:srgbClr val="475569"/>
                </a:solidFill>
                <a:latin typeface="Segoe UI"/>
              </a:rPr>
              <a:t>min sum [ C_landed,s * x_s + F_contract,s * y_s + lambda_L * L_s * x_s + lambda_C * E_s * x_s ]
Minimizes total landed procurement cost, binary vendor activation fees, lead-time penalties, and carbon scope 3 emissions.</a:t>
            </a:r>
          </a:p>
          <a:p>
            <a:pPr>
              <a:spcBef>
                <a:spcPts val="600"/>
              </a:spcBef>
            </a:pPr>
            <a:r>
              <a:rPr sz="919" b="1">
                <a:solidFill>
                  <a:srgbClr val="2563EB"/>
                </a:solidFill>
                <a:latin typeface="Segoe UI"/>
              </a:rPr>
              <a:t>1. Strict Demand Conservation: </a:t>
            </a:r>
            <a:r>
              <a:rPr sz="850">
                <a:solidFill>
                  <a:srgbClr val="475569"/>
                </a:solidFill>
                <a:latin typeface="Segoe UI"/>
              </a:rPr>
              <a:t>sum(x_s) = D_total
Guarantees zero under-delivery; 100% of required production volume is satisfied without stockouts.</a:t>
            </a:r>
          </a:p>
          <a:p>
            <a:pPr>
              <a:spcBef>
                <a:spcPts val="600"/>
              </a:spcBef>
            </a:pPr>
            <a:r>
              <a:rPr sz="919" b="1">
                <a:solidFill>
                  <a:srgbClr val="2563EB"/>
                </a:solidFill>
                <a:latin typeface="Segoe UI"/>
              </a:rPr>
              <a:t>2. Big-M Binary Activation Gating: </a:t>
            </a:r>
            <a:r>
              <a:rPr sz="850">
                <a:solidFill>
                  <a:srgbClr val="475569"/>
                </a:solidFill>
                <a:latin typeface="Segoe UI"/>
              </a:rPr>
              <a:t>MOQ_s * y_s &lt;= x_s &lt;= Capacity_s * y_s
Forces volume to zero if supplier is not activated (y_s = 0), and respects certified supplier production ceilings.</a:t>
            </a:r>
          </a:p>
          <a:p>
            <a:pPr>
              <a:spcBef>
                <a:spcPts val="600"/>
              </a:spcBef>
            </a:pPr>
            <a:r>
              <a:rPr sz="919" b="1">
                <a:solidFill>
                  <a:srgbClr val="2563EB"/>
                </a:solidFill>
                <a:latin typeface="Segoe UI"/>
              </a:rPr>
              <a:t>3. Certified Circular Scrap Fleet SLA: </a:t>
            </a:r>
            <a:r>
              <a:rPr sz="850">
                <a:solidFill>
                  <a:srgbClr val="475569"/>
                </a:solidFill>
                <a:latin typeface="Segoe UI"/>
              </a:rPr>
              <a:t>sum(R_s * x_s) &gt;= R_target * D_total
Enforces closed-loop post-consumer recycled content (e.g. 71.8% achieved in practice).</a:t>
            </a:r>
          </a:p>
          <a:p>
            <a:pPr>
              <a:spcBef>
                <a:spcPts val="600"/>
              </a:spcBef>
            </a:pPr>
            <a:r>
              <a:rPr sz="919" b="1">
                <a:solidFill>
                  <a:srgbClr val="2563EB"/>
                </a:solidFill>
                <a:latin typeface="Segoe UI"/>
              </a:rPr>
              <a:t>Computational Performance: </a:t>
            </a:r>
            <a:r>
              <a:rPr sz="850">
                <a:solidFill>
                  <a:srgbClr val="475569"/>
                </a:solidFill>
                <a:latin typeface="Segoe UI"/>
              </a:rPr>
              <a:t>Evaluated deterministically in &lt;15ms with verified global optimality via the SCIP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783080"/>
            <a:ext cx="537667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executive_decision_br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74519"/>
            <a:ext cx="5193792" cy="2348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07. PROJECT SUMMARY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Empirical Benchmarks, Open-Source Deliverables &amp; Team Lazy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 complete, battle-tested decision platform protecting enterprise margins and household grocery budgets.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1071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3044952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VERIFIED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04495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Empirical Performance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Sub-15ms Solve Time: Real-time mathematical optimization replaces 4-week manual negotiation cycles.</a:t>
            </a:r>
            <a:br/>
            <a:br/>
            <a:r>
              <a:t>• 65%–85% Inflation Defense: Proved absorption of compounding maritime and memory component cost spikes.</a:t>
            </a:r>
            <a:br/>
            <a:br/>
            <a:r>
              <a:t>• 100% Test Suite Coverage: 5 comprehensive automated test suites verifying catalog integrity, LLM fallbacks, and boundary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1071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3044952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AUDIT-READY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304495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Complete Deliverables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Live Streamlit Platform: 4 dedicated workspaces (Cockpit, Provisional Cost Board, Commons, Formulations).</a:t>
            </a:r>
            <a:br/>
            <a:br/>
            <a:r>
              <a:t>• Publication Research Paper: Peer-audited whitepaper by Shrey Jaiswal cited across UNCTAD, TrendForce &amp; EPO.</a:t>
            </a:r>
            <a:br/>
            <a:br/>
            <a:r>
              <a:t>• Open-Source GitHub Repository:</a:t>
            </a:r>
            <a:br/>
            <a:r>
              <a:t>github.com/lazyshrey/basketshield</a:t>
            </a:r>
            <a:br/>
            <a:r>
              <a:t>Complete commit milestones &amp; docs.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41071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965960"/>
            <a:ext cx="3044952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CREATORS &amp; ATTRIBUTION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14600"/>
            <a:ext cx="304495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Team Lazy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Segoe UI"/>
              </a:defRPr>
            </a:pPr>
            <a:r>
              <a:t>• Team Name: Team Lazy</a:t>
            </a:r>
            <a:br/>
            <a:br/>
            <a:r>
              <a:t>• Members:</a:t>
            </a:r>
            <a:br/>
            <a:r>
              <a:t>  - Shrey Jaiswal</a:t>
            </a:r>
            <a:br/>
            <a:r>
              <a:t>  - Navya Gupta</a:t>
            </a:r>
            <a:br/>
            <a:br/>
            <a:r>
              <a:t>• Tech Stack:</a:t>
            </a:r>
            <a:br/>
            <a:r>
              <a:t>  Python 3.13, Google OR-Tools (SCIP),</a:t>
            </a:r>
            <a:br/>
            <a:r>
              <a:t>  Google Gemini API, Streamlit, Plotly,</a:t>
            </a:r>
            <a:br/>
            <a:r>
              <a:t>  ReportLab &amp; python-pptx.</a:t>
            </a:r>
            <a:br/>
            <a:br/>
            <a:r>
              <a:t>• License: Open-Source MIT License.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