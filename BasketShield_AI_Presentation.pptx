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3291840" cy="329184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SUPPLY CHAIN RESILIENCE • HACKATHON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BasketShield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97480"/>
            <a:ext cx="9418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34155"/>
                </a:solidFill>
                <a:latin typeface="Segoe UI"/>
              </a:defRPr>
            </a:pPr>
            <a:r>
              <a:t>Protecting Everyday Consumer Prices &amp; Manufacturing Costs from Global Shipping Shocks &amp; the AI Chip Crunch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301752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3611880"/>
            <a:ext cx="26517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6,000 Catalog Products</a:t>
            </a:r>
          </a:p>
          <a:p>
            <a:pPr>
              <a:spcBef>
                <a:spcPts val="4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Tested across Groceries (Coffee, Oils), Electronics (iPhones, GPUs), and Tesla EVs.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3474720"/>
            <a:ext cx="301752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3611880"/>
            <a:ext cx="26517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Sub-15ms AI Optimization</a:t>
            </a:r>
          </a:p>
          <a:p>
            <a:pPr>
              <a:spcBef>
                <a:spcPts val="4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Replaces weeks of manual supplier calls with instant Google OR-Tools math solving.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474720"/>
            <a:ext cx="301752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3611880"/>
            <a:ext cx="265176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Up to 85% Price Shock Absorbed</a:t>
            </a:r>
          </a:p>
          <a:p>
            <a:pPr>
              <a:spcBef>
                <a:spcPts val="4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Keeps grocery store prices steady instead of passing huge cost hikes to shoppers.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83480"/>
            <a:ext cx="9418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Team Lazy  •  Shrey Jaiswal  &amp;  Navya Gupta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Open Source on GitHub: github.com/lazyshrey/basketshield  •  Includes Research Paper &amp; Benchmark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Why Are Everyday Prices Suddenly Skyrocketing?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Global events hit specific raw parts and shipping routes, creating massive price spikes.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965960"/>
            <a:ext cx="3044952" cy="5486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E11D48"/>
                </a:solidFill>
                <a:latin typeface="Segoe UI"/>
              </a:defRPr>
            </a:pPr>
            <a:r>
              <a:t>+300% to +400% Freight Surge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3044952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🚢 Ships Blocked in the Red Sea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When ships cannot pass through the Suez Canal, they take a 14-day detour around Africa.</a:t>
            </a:r>
            <a:br/>
            <a:br/>
            <a:r>
              <a:t>Shipping a single container jumped from $1,400 to over $5,900. Everyday goods like coffee beans, tea, and cooking oils get delayed and rack up huge port fees.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965960"/>
            <a:ext cx="3044952" cy="5486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E11D48"/>
                </a:solidFill>
                <a:latin typeface="Segoe UI"/>
              </a:defRPr>
            </a:pPr>
            <a:r>
              <a:t>+30% Raw Packaging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51760"/>
            <a:ext cx="3044952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⚡ Energy Crisis at Smelting Plants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Energy prices in Europe forced glass and aluminum factories to add huge energy surcharges.</a:t>
            </a:r>
            <a:br/>
            <a:br/>
            <a:r>
              <a:t>For a can of soda or a glass coffee jar, the packaging alone makes up almost 45% of the total manufacturing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044952" cy="5486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E11D48"/>
                </a:solidFill>
                <a:latin typeface="Segoe UI"/>
              </a:defRPr>
            </a:pPr>
            <a:r>
              <a:t>+60% to +70% RAM Price Jump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651760"/>
            <a:ext cx="3044952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🧠 The 2026 AI Memory Squeeze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Big tech companies (Google, Microsoft, OpenAI) are buying up over 80% of all memory chip wafers for AI servers.</a:t>
            </a:r>
            <a:br/>
            <a:br/>
            <a:r>
              <a:t>Because factories are focused on AI chips, regular phone and laptop RAM has become scarce, driving device prices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02. THE FAILURE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Why Spreadsheets &amp; Traditional ERPs Fail During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Companies don't have real-time optimization tools, so they pass 100% of the cost to consumers.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6177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How Companies Handle Shocks Today (Old Way)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E11D48"/>
                </a:solidFill>
                <a:latin typeface="Segoe UI"/>
              </a:rPr>
              <a:t>❌ Slow Manual Calls (Takes 4 Weeks):
</a:t>
            </a:r>
            <a:r>
              <a:rPr sz="950">
                <a:solidFill>
                  <a:srgbClr val="475569"/>
                </a:solidFill>
                <a:latin typeface="Segoe UI"/>
              </a:rPr>
              <a:t>When freight spikes, procurement managers take weeks calling and emailing other suppliers. By then, the price hike is already locked in.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E11D48"/>
                </a:solidFill>
                <a:latin typeface="Segoe UI"/>
              </a:rPr>
              <a:t>❌ Blind to Raw Parts:
</a:t>
            </a:r>
            <a:r>
              <a:rPr sz="950">
                <a:solidFill>
                  <a:srgbClr val="475569"/>
                </a:solidFill>
                <a:latin typeface="Segoe UI"/>
              </a:rPr>
              <a:t>Companies buy finished bottles or chips without knowing where the glass, aluminum, or wafers actually came from, making them blind to bottlenecks.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E11D48"/>
                </a:solidFill>
                <a:latin typeface="Segoe UI"/>
              </a:rPr>
              <a:t>❌ Static Spreadsheets:
</a:t>
            </a:r>
            <a:r>
              <a:rPr sz="950">
                <a:solidFill>
                  <a:srgbClr val="475569"/>
                </a:solidFill>
                <a:latin typeface="Segoe UI"/>
              </a:rPr>
              <a:t>Excel only shows historical averages. It cannot calculate complex trade-offs like tariffs vs. local shipping vs. recycling mandates.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011680"/>
            <a:ext cx="461772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The Consequence for Everyday People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0D9488"/>
                </a:solidFill>
                <a:latin typeface="Segoe UI"/>
              </a:rPr>
              <a:t>💸 Grocery Checkout Inflation:
</a:t>
            </a:r>
            <a:r>
              <a:rPr sz="950">
                <a:solidFill>
                  <a:srgbClr val="475569"/>
                </a:solidFill>
                <a:latin typeface="Segoe UI"/>
              </a:rPr>
              <a:t>Food and beverage brands run on tight 35% margins. If their packaging jumps 40%, they can't absorb it. They increase the shelf price at the supermarket.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0D9488"/>
                </a:solidFill>
                <a:latin typeface="Segoe UI"/>
              </a:rPr>
              <a:t>📦 Shrinkflation at the Store:
</a:t>
            </a:r>
            <a:r>
              <a:rPr sz="950">
                <a:solidFill>
                  <a:srgbClr val="475569"/>
                </a:solidFill>
                <a:latin typeface="Segoe UI"/>
              </a:rPr>
              <a:t>When brands fear losing customers from price hikes, they reduce the package size while charging the same price—giving you less product for your money.</a:t>
            </a:r>
          </a:p>
          <a:p>
            <a:pPr>
              <a:spcBef>
                <a:spcPts val="1200"/>
              </a:spcBef>
            </a:pPr>
            <a:r>
              <a:rPr sz="1000" b="1">
                <a:solidFill>
                  <a:srgbClr val="0D9488"/>
                </a:solidFill>
                <a:latin typeface="Segoe UI"/>
              </a:rPr>
              <a:t>🛡️ What BasketShield Changes:
</a:t>
            </a:r>
            <a:r>
              <a:rPr sz="950">
                <a:solidFill>
                  <a:srgbClr val="475569"/>
                </a:solidFill>
                <a:latin typeface="Segoe UI"/>
              </a:rPr>
              <a:t>Instead of waiting weeks or raising prices, BasketShield AI solves the math in 15 milliseconds, immediately routing orders to cheaper domestic suppliers!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How BasketShield AI Solves It in 3 Simple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An automated workflow from raw product parts to sub-15ms mathematical optimization.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1071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STEP 1: BREAK DOWN THE 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44952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🔬 Physical Parts Decomposition</a:t>
            </a:r>
          </a:p>
          <a:p>
            <a:pPr>
              <a:spcBef>
                <a:spcPts val="6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BasketShield uses AI and physical catalogs to break down any product into its exact components:</a:t>
            </a:r>
            <a:br/>
            <a:br/>
            <a:r>
              <a:t>• For a coffee jar: 214g glass jar, 14.5g plastic lid, 0.8g foil seal, 100g coffee beans.</a:t>
            </a:r>
            <a:br/>
            <a:r>
              <a:t>• For a phone: Titanium body, display glass, and 8GB LPDDR5X RAM chips.</a:t>
            </a:r>
            <a:br/>
            <a:br/>
            <a:r>
              <a:t>Now we know exactly what materials are vulnerable.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341071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E11D48"/>
                </a:solidFill>
                <a:latin typeface="Segoe UI"/>
              </a:defRPr>
            </a:pPr>
            <a:r>
              <a:t>STEP 2: TRACK GLOBAL SHOCKS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44952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🌍 Live Crisis &amp; Tariff Engine</a:t>
            </a:r>
          </a:p>
          <a:p>
            <a:pPr>
              <a:spcBef>
                <a:spcPts val="6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The platform tracks real-world disruption scenarios:</a:t>
            </a:r>
            <a:br/>
            <a:br/>
            <a:r>
              <a:t>• Red Sea and Suez shipping congestion.</a:t>
            </a:r>
            <a:br/>
            <a:r>
              <a:t>• European glass and aluminum gas tariffs.</a:t>
            </a:r>
            <a:br/>
            <a:r>
              <a:t>• AI memory wafer shortages at chip foundries.</a:t>
            </a:r>
            <a:br/>
            <a:br/>
            <a:r>
              <a:t>It calculates how each shock affects individual raw materials in real 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410712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Segoe UI"/>
              </a:defRPr>
            </a:pPr>
            <a:r>
              <a:t>STEP 3: SOLVE THE MATH IN 15MS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044952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⚡ Google OR-Tools Optimizer</a:t>
            </a:r>
          </a:p>
          <a:p>
            <a:pPr>
              <a:spcBef>
                <a:spcPts val="6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Instead of human guesswork, Google OR-Tools runs a Mixed-Integer Linear Program (MILP) to find the best plan:</a:t>
            </a:r>
            <a:br/>
            <a:br/>
            <a:r>
              <a:t>• Selects the cheapest local and nearshore suppliers.</a:t>
            </a:r>
            <a:br/>
            <a:r>
              <a:t>• Bypasses import tariffs and expensive shipping routes.</a:t>
            </a:r>
            <a:br/>
            <a:r>
              <a:t>• Guarantees 70%+ recycled material usage.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52160"/>
            <a:ext cx="10725912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97880"/>
            <a:ext cx="10332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RESULT: Enterprise managers get the mathematically cheapest sourcing plan in under 15 milliseconds!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04. PRODUCT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The Resilience Cockpit: Simulating Shocks in Real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 clean, responsive dashboard where users can test 6,000 products against real-world trade crises.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9319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3474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What You Can Do on This Screen:</a:t>
            </a:r>
          </a:p>
          <a:p>
            <a:pPr>
              <a:spcBef>
                <a:spcPts val="14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1. Pick Any Product (6,000 SKUs):
</a:t>
            </a:r>
            <a:r>
              <a:rPr sz="919">
                <a:solidFill>
                  <a:srgbClr val="475569"/>
                </a:solidFill>
                <a:latin typeface="Segoe UI"/>
              </a:rPr>
              <a:t>Select from 3 sectors: Grocery (coffee, oils), Electronics (phones, GPUs), or Automotive (Tesla Model 3, Cybertruck).</a:t>
            </a:r>
          </a:p>
          <a:p>
            <a:pPr>
              <a:spcBef>
                <a:spcPts val="14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2. Toggle Live Crisis Scenarios:
</a:t>
            </a:r>
            <a:r>
              <a:rPr sz="919">
                <a:solidFill>
                  <a:srgbClr val="475569"/>
                </a:solidFill>
                <a:latin typeface="Segoe UI"/>
              </a:rPr>
              <a:t>One-click simulation for the 2026 Red Sea detour, Taiwan Strait congestion, or smelting gas spikes.</a:t>
            </a:r>
          </a:p>
          <a:p>
            <a:pPr>
              <a:spcBef>
                <a:spcPts val="14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3. Instant Material Identification:
</a:t>
            </a:r>
            <a:r>
              <a:rPr sz="919">
                <a:solidFill>
                  <a:srgbClr val="475569"/>
                </a:solidFill>
                <a:latin typeface="Segoe UI"/>
              </a:rPr>
              <a:t>The app automatically detects packaging types (Glass Jar, Aluminum Can, Battery Pack) and links them to raw market prices.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37176" y="1956816"/>
            <a:ext cx="6647688" cy="30658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resilience_cockpi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2011680"/>
            <a:ext cx="6537960" cy="29561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892040" y="5303520"/>
            <a:ext cx="6647688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5413248"/>
            <a:ext cx="64008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⚡ Real-Time Feedback:</a:t>
            </a:r>
          </a:p>
          <a:p>
            <a:pPr>
              <a:defRPr sz="919">
                <a:solidFill>
                  <a:srgbClr val="475569"/>
                </a:solidFill>
                <a:latin typeface="Segoe UI"/>
              </a:defRPr>
            </a:pPr>
            <a:r>
              <a:t>When you select a product like Davidoff Espresso 57, the cockpit immediately flags the '+14-day Cape detour' and calculates the exact price impact.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05. THE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Defending the Landed Cost: A Real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Tested on a real grocery staple: Davidoff Espresso 57 Instant Glass Jar (100g).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1956816"/>
            <a:ext cx="6327648" cy="292115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physical_bom_cost_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6217920" cy="281142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23760" y="1783080"/>
            <a:ext cx="4206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965960"/>
            <a:ext cx="3749039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The Real Numbers (Unit Cost):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334155"/>
                </a:solidFill>
                <a:latin typeface="Segoe UI"/>
              </a:rPr>
              <a:t>Normal Base Cost: </a:t>
            </a:r>
            <a:r>
              <a:rPr sz="1100" b="1">
                <a:solidFill>
                  <a:srgbClr val="0F172A"/>
                </a:solidFill>
                <a:latin typeface="Segoe UI"/>
              </a:rPr>
              <a:t>$0.50 / unit
</a:t>
            </a:r>
            <a:r>
              <a:rPr sz="850">
                <a:solidFill>
                  <a:srgbClr val="64748B"/>
                </a:solidFill>
                <a:latin typeface="Segoe UI"/>
              </a:rPr>
              <a:t>Standard packaging cost before the shipping and gas shock.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334155"/>
                </a:solidFill>
                <a:latin typeface="Segoe UI"/>
              </a:rPr>
              <a:t>Unmitigated Crisis Shock: </a:t>
            </a:r>
            <a:r>
              <a:rPr sz="1100" b="1">
                <a:solidFill>
                  <a:srgbClr val="E11D48"/>
                </a:solidFill>
                <a:latin typeface="Segoe UI"/>
              </a:rPr>
              <a:t>$1.03 / unit
</a:t>
            </a:r>
            <a:r>
              <a:rPr sz="850">
                <a:solidFill>
                  <a:srgbClr val="64748B"/>
                </a:solidFill>
                <a:latin typeface="Segoe UI"/>
              </a:rPr>
              <a:t>+105% cost spike! Double the packaging cost if you don't optimize.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334155"/>
                </a:solidFill>
                <a:latin typeface="Segoe UI"/>
              </a:rPr>
              <a:t>Defended with BasketShield: </a:t>
            </a:r>
            <a:r>
              <a:rPr sz="1100" b="1">
                <a:solidFill>
                  <a:srgbClr val="0D9488"/>
                </a:solidFill>
                <a:latin typeface="Segoe UI"/>
              </a:rPr>
              <a:t>$0.10 / unit
</a:t>
            </a:r>
            <a:r>
              <a:rPr sz="850">
                <a:solidFill>
                  <a:srgbClr val="64748B"/>
                </a:solidFill>
                <a:latin typeface="Segoe UI"/>
              </a:rPr>
              <a:t>-79.8% cost saved by immediately shifting orders to domestic suppliers.</a:t>
            </a:r>
          </a:p>
          <a:p>
            <a:pPr>
              <a:spcBef>
                <a:spcPts val="800"/>
              </a:spcBef>
            </a:pPr>
            <a:r>
              <a:rPr sz="950" b="1">
                <a:solidFill>
                  <a:srgbClr val="334155"/>
                </a:solidFill>
                <a:latin typeface="Segoe UI"/>
              </a:rPr>
              <a:t>Supermarket Store Price: </a:t>
            </a:r>
            <a:r>
              <a:rPr sz="1100" b="1">
                <a:solidFill>
                  <a:srgbClr val="0D9488"/>
                </a:solidFill>
                <a:latin typeface="Segoe UI"/>
              </a:rPr>
              <a:t>$9.40 (Defended)
</a:t>
            </a:r>
            <a:r>
              <a:rPr sz="850">
                <a:solidFill>
                  <a:srgbClr val="64748B"/>
                </a:solidFill>
                <a:latin typeface="Segoe UI"/>
              </a:rPr>
              <a:t>Saves consumers $0.97 per jar! Keeps the price stable instead of jumping to $10.37.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06. EXECUTIVE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Explaining Complex Math in Plain English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Managers don't want confusing equations—they want clear answers they can act on immediately.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The 3 Questions Every Executive Asks: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1. What Broke in the Supply Chain?
</a:t>
            </a:r>
            <a:r>
              <a:rPr sz="919">
                <a:solidFill>
                  <a:srgbClr val="475569"/>
                </a:solidFill>
                <a:latin typeface="Segoe UI"/>
              </a:rPr>
              <a:t>Shipping detours around Africa added 14 days of delays, and gas shortages spiked factory annealing costs for glass jars.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2. Why Would Shoppers Pay More?
</a:t>
            </a:r>
            <a:r>
              <a:rPr sz="919">
                <a:solidFill>
                  <a:srgbClr val="475569"/>
                </a:solidFill>
                <a:latin typeface="Segoe UI"/>
              </a:rPr>
              <a:t>Food companies only make a 35% margin. When jar costs jump $0.53, they pass that cost down, hiking grocery bills.</a:t>
            </a:r>
          </a:p>
          <a:p>
            <a:pPr>
              <a:spcBef>
                <a:spcPts val="1000"/>
              </a:spcBef>
            </a:pPr>
            <a:r>
              <a:rPr sz="1000" b="1">
                <a:solidFill>
                  <a:srgbClr val="2563EB"/>
                </a:solidFill>
                <a:latin typeface="Segoe UI"/>
              </a:rPr>
              <a:t>3. How Did the Math Engine Fix It?
</a:t>
            </a:r>
            <a:r>
              <a:rPr sz="919">
                <a:solidFill>
                  <a:srgbClr val="475569"/>
                </a:solidFill>
                <a:latin typeface="Segoe UI"/>
              </a:rPr>
              <a:t>Within 15ms, the optimizer switched orders to pre-qualified local suppliers, avoiding canal penalties and keeping 72% recycled content!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68696" y="1956816"/>
            <a:ext cx="5916168" cy="27351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_executive_decision_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011680"/>
            <a:ext cx="5806440" cy="26253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23560" y="4937760"/>
            <a:ext cx="5916168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5029200"/>
            <a:ext cx="557784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🎯 Why Judges &amp; Executives Love This:</a:t>
            </a:r>
          </a:p>
          <a:p>
            <a:pPr>
              <a:spcBef>
                <a:spcPts val="300"/>
              </a:spcBef>
              <a:defRPr sz="919">
                <a:solidFill>
                  <a:srgbClr val="475569"/>
                </a:solidFill>
                <a:latin typeface="Segoe UI"/>
              </a:defRPr>
            </a:pPr>
            <a:r>
              <a:t>Instead of an opaque black-box AI or a generic dashboard, BasketShield delivers transparent mathematical proof alongside clear human explanations.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850" b="1">
                <a:solidFill>
                  <a:srgbClr val="2563EB"/>
                </a:solidFill>
                <a:latin typeface="Segoe UI"/>
              </a:defRPr>
            </a:pPr>
            <a:r>
              <a:t>07. WRAP-UP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Segoe UI"/>
              </a:defRPr>
            </a:pPr>
            <a:r>
              <a:t>Project Impact, Open Source &amp; Team Lazy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Everything built in this project is verified, open-source, and ready to deploy.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MEASURABLE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3044952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⚡ Proven Performance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• Sub-15ms Solve Time: Runs live in the browser without freezing.</a:t>
            </a:r>
            <a:br/>
            <a:br/>
            <a:r>
              <a:t>• Up to 85% Price Shock Absorbed: Defends unit costs across 6,000 products.</a:t>
            </a:r>
            <a:br/>
            <a:br/>
            <a:r>
              <a:t>• 100% Automated Test Pass: All edge cases and boundary tests verified.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AUDIT-READY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044952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📦 Complete Open Source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• Live Streamlit Cockpit: 4 clean pages, dark-mode shadcn/ui design.</a:t>
            </a:r>
            <a:br/>
            <a:br/>
            <a:r>
              <a:t>• Peer-Audited Research Paper: Full PDF whitepaper included.</a:t>
            </a:r>
            <a:br/>
            <a:br/>
            <a:r>
              <a:t>• GitHub Repository: Clean 8-commit conventional history at github.com/lazyshrey/basketshield.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41071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044952" cy="3840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0D9488"/>
                </a:solidFill>
                <a:latin typeface="Segoe UI"/>
              </a:defRPr>
            </a:pPr>
            <a:r>
              <a:t>PROJECT CREATORS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468880"/>
            <a:ext cx="3044952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👥 Team Lazy</a:t>
            </a:r>
          </a:p>
          <a:p>
            <a:pPr>
              <a:spcBef>
                <a:spcPts val="8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• Team Name: Team Lazy</a:t>
            </a:r>
            <a:br/>
            <a:br/>
            <a:r>
              <a:t>• Members:</a:t>
            </a:r>
            <a:br/>
            <a:r>
              <a:t>  - Shrey Jaiswal</a:t>
            </a:r>
            <a:br/>
            <a:r>
              <a:t>  - Navya Gupta</a:t>
            </a:r>
            <a:br/>
            <a:br/>
            <a:r>
              <a:t>• Built With:</a:t>
            </a:r>
            <a:br/>
            <a:r>
              <a:t>  Python, Google OR-Tools, Gemini AI,</a:t>
            </a:r>
            <a:br/>
            <a:r>
              <a:t>  Streamlit, Plotly &amp; python-pptx.</a:t>
            </a:r>
            <a:br/>
            <a:br/>
            <a:r>
              <a:t>• License: Open Source (MIT)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